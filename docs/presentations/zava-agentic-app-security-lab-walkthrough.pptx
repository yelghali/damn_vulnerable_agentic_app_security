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084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6629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 Display"/>
              </a:rPr>
              <a:t>Hardening a Damn
Vulnerable Agentic AI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69164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C4E6DF"/>
                </a:solidFill>
                <a:latin typeface="Aptos"/>
              </a:rPr>
              <a:t>Zava Wealth Advisor lab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44652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50" b="0">
                <a:solidFill>
                  <a:srgbClr val="FFFFFF"/>
                </a:solidFill>
                <a:latin typeface="Aptos"/>
              </a:rPr>
              <a:t>Break V1-V11, then add Azure security layers: Foundry guardrails, PII redaction, secure tools/MCP, Entra + Search ACLs, APIM gateway, governance, evaluations, Purview, red teaming.</a:t>
            </a:r>
          </a:p>
        </p:txBody>
      </p:sp>
      <p:pic>
        <p:nvPicPr>
          <p:cNvPr id="6" name="Picture 5" descr="01-app-overview-vulne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685800"/>
            <a:ext cx="3611880" cy="3154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" y="5468112"/>
            <a:ext cx="2880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5522976"/>
            <a:ext cx="2880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13262E"/>
                </a:solidFill>
                <a:latin typeface="Aptos"/>
              </a:rPr>
              <a:t>No fluff: exploit -&gt; control -&gt; proof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60" y="5468112"/>
            <a:ext cx="3017520" cy="310896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5522976"/>
            <a:ext cx="3017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Hosted app currently forced to Foundry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WHY THIS LAB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Lab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73152" cy="141732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910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2026"/>
                </a:solidFill>
                <a:latin typeface="Aptos"/>
              </a:rPr>
              <a:t>What learners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01952"/>
            <a:ext cx="32004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66269"/>
                </a:solidFill>
                <a:latin typeface="Aptos"/>
              </a:rPr>
              <a:t>Run a real multi-agent finance app, exploit each missing control, then turn on the Azure layer and verify the exploit is dead.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474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73152" cy="1417320"/>
          </a:xfrm>
          <a:prstGeom prst="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5910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2026"/>
                </a:solidFill>
                <a:latin typeface="Aptos"/>
              </a:rPr>
              <a:t>What they learn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01952"/>
            <a:ext cx="32004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66269"/>
                </a:solidFill>
                <a:latin typeface="Aptos"/>
              </a:rPr>
              <a:t>Where each control belongs: model, API, identity, retrieval, tool boundary, runtime, data governance, or test gate.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463040"/>
            <a:ext cx="73152" cy="141732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591056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82026"/>
                </a:solidFill>
                <a:latin typeface="Aptos"/>
              </a:rPr>
              <a:t>What success means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901952"/>
            <a:ext cx="320040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66269"/>
                </a:solidFill>
                <a:latin typeface="Aptos"/>
              </a:rPr>
              <a:t>A before/after proof for V1-V11, not a checkbox list. Every mitigation is tied to code, Azure config, and a user-visible result.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70332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3858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Break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391363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3703320"/>
            <a:ext cx="2368296" cy="685800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3858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391363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370332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3858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Inspect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391363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370332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385876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WHAT IS BEING SECURED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The App: Zava Wealth Advisor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01752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73152" cy="420624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453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Multi-agent finance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56232"/>
            <a:ext cx="2743200" cy="3675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Orchestrator routes to Knowledge/RAG, Accounts, Transactions, and Reporting agents. It handles account balances, credit scores, statements, transfers, and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301752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86200" y="1417320"/>
            <a:ext cx="73152" cy="420624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50791" y="154533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Sensitive data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0791" y="1856232"/>
            <a:ext cx="2743200" cy="3675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Names, customer IDs, account numbers, balances, credit scores, addresses, SSNs, private documents, and state-changing financial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1417320"/>
            <a:ext cx="4343400" cy="4206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417320"/>
            <a:ext cx="73152" cy="4206240"/>
          </a:xfrm>
          <a:prstGeom prst="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96912" y="1545336"/>
            <a:ext cx="4069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Security boundary 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912" y="1856232"/>
            <a:ext cx="4069080" cy="3675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Model safety protects prompts and completions. Identity determines customer scope. Search ACLs trim documents. Tool policies gate actions. Gateway/runtime controls protect endpoints. Governance/evals prove drift is caught.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Vulnerable Baseline</a:t>
            </a:r>
          </a:p>
        </p:txBody>
      </p:sp>
      <p:pic>
        <p:nvPicPr>
          <p:cNvPr id="4" name="Picture 3" descr="01-app-overview-vulner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21208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126480" y="1371600"/>
            <a:ext cx="5212080" cy="914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73152" cy="91440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91072" y="1499616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Baseline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8105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Browser -&gt; FastAPI app -&gt; local model/local data. No platform guardrails, no trusted identity, no document trimming, no gateway.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514600"/>
            <a:ext cx="2468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514600"/>
            <a:ext cx="73152" cy="1234440"/>
          </a:xfrm>
          <a:prstGeom prst="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64261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Learner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953512"/>
            <a:ext cx="21945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66269"/>
                </a:solidFill>
                <a:latin typeface="Aptos"/>
              </a:rPr>
              <a:t>Click exploit chips for V1-V11 and read event traces under the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514600"/>
            <a:ext cx="246888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69680" y="2514600"/>
            <a:ext cx="73152" cy="123444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64261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Facilitator 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953512"/>
            <a:ext cx="21945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66269"/>
                </a:solidFill>
                <a:latin typeface="Aptos"/>
              </a:rPr>
              <a:t>Do not skip Part 1. The controls only matter after learners see the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977639"/>
            <a:ext cx="52120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77639"/>
            <a:ext cx="73152" cy="1417320"/>
          </a:xfrm>
          <a:prstGeom prst="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4105655"/>
            <a:ext cx="4937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Baseline model now explicit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416552"/>
            <a:ext cx="4937760" cy="8869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66269"/>
                </a:solidFill>
                <a:latin typeface="Aptos"/>
              </a:rPr>
              <a:t>The hosted shared app is forced to Foundry for cohort stability. Local ACA/Phi remains available as an explicit model-route choice for vulnerable-model demos.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DECODER 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V1-V11 Vulnerability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94360" cy="310896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8074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99032" y="13624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Ungoverned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25880"/>
            <a:ext cx="594360" cy="310896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38074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7952" y="13624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No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94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38074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13624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PII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59" y="1325880"/>
            <a:ext cx="594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59" y="138074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5791" y="136245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Overpermissioned tools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514600"/>
            <a:ext cx="594360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6946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25511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Broken customer 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2514600"/>
            <a:ext cx="594360" cy="310896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256946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87952" y="25511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Data poisoning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14600"/>
            <a:ext cx="594360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56946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5511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Insecure runtime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59" y="2514600"/>
            <a:ext cx="594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59" y="2569464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1" y="255117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Unsafe code execution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03320"/>
            <a:ext cx="594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758183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7398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Insecure MCP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3703320"/>
            <a:ext cx="594360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758183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87952" y="37398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No AI gateway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3703320"/>
            <a:ext cx="59436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758183"/>
            <a:ext cx="594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V11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6872" y="3739896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182026"/>
                </a:solidFill>
                <a:latin typeface="Aptos"/>
              </a:rPr>
              <a:t>A2A poisoning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983480"/>
            <a:ext cx="108813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85800" y="4983480"/>
            <a:ext cx="73152" cy="749808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" y="5111496"/>
            <a:ext cx="10607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Use this slide as the transition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5422392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66269"/>
                </a:solidFill>
                <a:latin typeface="Aptos"/>
              </a:rPr>
              <a:t>Modules are grouped by Azure security layer, not by vulnerability number. Module 4 intentionally closes V4, V8, V9, and V11 together because they share the tool/action boundary.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RESPONSIBLE AI, PROMPT SHIELDS, GROUNDEDNESS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M1-M2 · Foundry Guardrails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Harmful prompts, jailbreaks, poisoned RAG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Foundry/OpenAI guardrails apply content filtering to prompts and completions; Prompt Shields detect user prompt attacks and document attacks; groundedness detects responses not supported by source material.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Jailbreak and poisoned-doc prompts block before unsafe model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Content Safety overview; Prompt Shields quickstart; Foundry guardrails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AZURE AI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M3 · PII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Prompt or tool output contains SSN/card/account data and leaks into responses or logs.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Azure AI Language PII detection identifies sensitive entities so the app can transform data before model calls, responses, and logs. This is a data pipeline control, not just a model block.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The same answer is returned with sensitive values redacted and audit-safe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Azure AI Language PII detection overview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LEAST PRIVILEGE AND ACTION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M4 · Tools, MCP, HITL,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IDOR, SQLi, transfer without approval, unsafe report code, untrusted MCP tool, forged handoff.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Foundry agents expose scoped hosted tools; PostgreSQL/RLS and MCP allow-lists narrow what an agent can do; human approval gates state changes; Code Interpreter provides a sandboxed execution boundary.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Read-only scope, approval-required transfer, sandbox blocks imports, MCP state-changing probe is denied.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Foundry agents/tools; Azure Database for PostgreSQL; Code Interpreter; MCP tool scoping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ENTRA OBO AND AI SEARCH DOCUMENT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M5 · Identity + Search ACLs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Editable customer ID/groups return another customer or restricted docs.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OBO propagates the signed-in user to downstream APIs. AI Search trims retrieval with a filterable `group_ids` field and `search.in()` over caller groups, so the RAG layer cannot see unauthorized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Learner sees retail/public docs only; manager sees manager/private-client docs.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Microsoft identity platform OBO; Azure AI Search security filters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APIM, OBSERVABILITY, DEFENDER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M6 · Gateway + Secure Runtime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No throttling, exposed model/tool endpoints, verbose runtime errors, weak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APIM centralizes model/tool access with token limit policy, auth, logging, and key isolation. Monitor and Defender add operational evidence and threat detection around the workload.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Burst requests hit token budget; safe errors replace stack/detail leakage; logs show governed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APIM Azure OpenAI token limit policy; Azure Monitor; Defender for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AGT, GROUNDEDNESS, EVALS, PURVIEW, RED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M7-M11 · Governance +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Exploit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Controls drift, poisoned data persists, no regression gate, tenant data policies missing, attacks untested.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3383280"/>
          </a:xfrm>
          <a:prstGeom prst="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Azure pitch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0">
                <a:solidFill>
                  <a:srgbClr val="566269"/>
                </a:solidFill>
                <a:latin typeface="Aptos"/>
              </a:rPr>
              <a:t>Governance inventories agents/tools, evaluations measure quality and safety, Purview DSPM/DLP extends data controls across the tenant, and red teaming turns attacks into repeatable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3383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73152" cy="338328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1" y="154533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856232"/>
            <a:ext cx="3063240" cy="285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566269"/>
                </a:solidFill>
                <a:latin typeface="Aptos"/>
              </a:rPr>
              <a:t>Policy check/eval/red-team reports become the gate before a lab fix is called done.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run exploit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3558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66160" y="5257800"/>
            <a:ext cx="2368296" cy="685800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93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enable layer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58704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80760" y="5257800"/>
            <a:ext cx="2368296" cy="685800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rerun exploit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385048" y="5468112"/>
            <a:ext cx="256032" cy="256032"/>
          </a:xfrm>
          <a:prstGeom prst="rightArrow">
            <a:avLst/>
          </a:prstGeom>
          <a:solidFill>
            <a:srgbClr val="5662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5360" y="5257800"/>
            <a:ext cx="2368296" cy="685800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541324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capture proof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236208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566269"/>
                </a:solidFill>
                <a:latin typeface="Aptos"/>
              </a:rPr>
              <a:t>Learn: Purview AI protection; Azure AI Foundry evaluations; red teaming transparency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EFFICIENT PRESENTER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Walkthrough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143000" cy="310896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930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0-5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2527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Objective + app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25272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Use slides 1-3. Make the finance/PII risk concrete.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94560"/>
            <a:ext cx="1143000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942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5-20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1284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Baseline tour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21284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Show V1-V11 map and run 3 fast exploits: jailbreak, PII, IDOR.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154680"/>
            <a:ext cx="1143000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0954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20-55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7296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Core Azure layers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17296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Foundry guardrails, PII, tool/MCP/HITL, Entra/Search, APIM/runtime.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114800"/>
            <a:ext cx="1143000" cy="310896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169663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55-70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13308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Assurance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133087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Governance, evaluations, Purview, red-team as the regression 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74920"/>
            <a:ext cx="1143000" cy="310896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29784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70+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0932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82026"/>
                </a:solidFill>
                <a:latin typeface="Aptos"/>
              </a:rPr>
              <a:t>Hands-on 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09320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Switch to MOAW and have learners run exploit -&gt; fix -&gt; verify.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Zava Wealth Advisor security lab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EDB14B"/>
                </a:solidFill>
                <a:latin typeface="Aptos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Boundary Placement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Security for agentic apps is boundary placement.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3291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423160"/>
            <a:ext cx="73152" cy="1920240"/>
          </a:xfrm>
          <a:prstGeom prst="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55117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Platform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862072"/>
            <a:ext cx="30175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Use Foundry, Entra, Search ACLs, APIM, Purview, Monitor, and Defender where they can enforce controls outside app code.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423160"/>
            <a:ext cx="3291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423160"/>
            <a:ext cx="73152" cy="1920240"/>
          </a:xfrm>
          <a:prstGeom prst="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255117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App layer where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2862072"/>
            <a:ext cx="30175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Redact PII, inspect tool/MCP output, validate inter-agent handoffs, and gate state-changing actions.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423160"/>
            <a:ext cx="3291840" cy="19202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DD7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2423160"/>
            <a:ext cx="73152" cy="1920240"/>
          </a:xfrm>
          <a:prstGeom prst="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255117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82026"/>
                </a:solidFill>
                <a:latin typeface="Aptos"/>
              </a:rPr>
              <a:t>Proof beats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2862072"/>
            <a:ext cx="3017520" cy="1389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66269"/>
                </a:solidFill>
                <a:latin typeface="Aptos"/>
              </a:rPr>
              <a:t>Every module ends with before/after evidence: blocked prompt, trimmed docs, denied tool, rate limit, eval or red-team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70448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C7D9D5"/>
                </a:solidFill>
                <a:latin typeface="Aptos"/>
              </a:rPr>
              <a:t>MOAW: docs/workshop.md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144768"/>
            <a:ext cx="7863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C7D9D5"/>
                </a:solidFill>
                <a:latin typeface="Aptos"/>
              </a:rPr>
              <a:t>Hosted: ca-app-zava8zn5p.yellowrock-178fa456.swedencentral.azurecontainerapps.io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0847A"/>
                </a:solidFill>
                <a:latin typeface="Aptos"/>
              </a:rPr>
              <a:t>FOR SPEAKER BACKUP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79552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82026"/>
                </a:solidFill>
                <a:latin typeface="Aptos Display"/>
              </a:rPr>
              <a:t>Microsoft Learn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384048" cy="310896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3502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29844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Azure AI Content Safety: content filters, Prompt Shields, groundedness, protected material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01952"/>
            <a:ext cx="384048" cy="310896"/>
          </a:xfrm>
          <a:prstGeom prst="roundRect">
            <a:avLst/>
          </a:prstGeom>
          <a:solidFill>
            <a:srgbClr val="EDB1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5681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Azure AI Language: PII detection and redaction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23744"/>
            <a:ext cx="384048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420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Azure AI Search: document-level security pattern with group_ids and search.in()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45536"/>
            <a:ext cx="384048" cy="310896"/>
          </a:xfrm>
          <a:prstGeom prst="roundRect">
            <a:avLst/>
          </a:prstGeom>
          <a:solidFill>
            <a:srgbClr val="3B8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16382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Microsoft identity platform: OAuth 2.0 On-Behalf-Of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67328"/>
            <a:ext cx="384048" cy="310896"/>
          </a:xfrm>
          <a:prstGeom prst="roundRect">
            <a:avLst/>
          </a:prstGeom>
          <a:solidFill>
            <a:srgbClr val="DB4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22191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785615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Azure API Management: Azure OpenAI token limit and gateway policies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384048" cy="310896"/>
          </a:xfrm>
          <a:prstGeom prst="roundRect">
            <a:avLst/>
          </a:prstGeom>
          <a:solidFill>
            <a:srgbClr val="008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4074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Microsoft Purview: protect and govern data for generative AI apps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010912"/>
            <a:ext cx="384048" cy="310896"/>
          </a:xfrm>
          <a:prstGeom prst="roundRect">
            <a:avLst/>
          </a:prstGeom>
          <a:solidFill>
            <a:srgbClr val="2E5D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6577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02920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82026"/>
                </a:solidFill>
                <a:latin typeface="Aptos"/>
              </a:rPr>
              <a:t>Azure AI Foundry evaluations and red-team safety evaluation guidance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66269"/>
                </a:solidFill>
                <a:latin typeface="Aptos"/>
              </a:rPr>
              <a:t>Keep detailed docs in MOAW; keep the PPT as the talk track.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